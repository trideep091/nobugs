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2b3440-d85c-ae94-c4bc-ba28d3ac3375}">
          <p14:sldIdLst>
            <p14:sldId id="256"/>
            <p14:sldId id="257"/>
          </p14:sldIdLst>
        </p14:section>
        <p14:section name="Product" id="{18ab6e81-86b6-be9d-89e1-747447bd2d34}">
          <p14:sldIdLst>
            <p14:sldId id="258"/>
            <p14:sldId id="259"/>
            <p14:sldId id="260"/>
          </p14:sldIdLst>
        </p14:section>
        <p14:section name="Walkthrough" id="{90d867ef-7d94-63c8-4843-25c5b42b6e25}">
          <p14:sldIdLst>
            <p14:sldId id="261"/>
            <p14:sldId id="262"/>
            <p14:sldId id="263"/>
            <p14:sldId id="264"/>
          </p14:sldIdLst>
        </p14:section>
        <p14:section name="Demo Story" id="{f41a035c-6fcb-ed0a-1650-e1e7ea59c1ff}">
          <p14:sldIdLst>
            <p14:sldId id="265"/>
          </p14:sldIdLst>
        </p14:section>
        <p14:section name="Under the hood" id="{2b04de8e-f5e8-b788-481a-0c28a4073444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NoBugs is a log-analysis web app for on-call engineers.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sets NoBugs apart from generic log search and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/home/claude/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82880"/>
            <a:ext cx="502920" cy="4782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NoBugs  •  Find the signal in the noise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accent2"/>
                </a:solidFill>
              </a:rPr>
              <a:t>3 AM ON-CALL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NoBugs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2"/>
                </a:solidFill>
              </a:rPr>
              <a:t>Sharp ears for 3 AM outages.</a:t>
            </a:r>
            <a:endParaRPr lang="en-US" sz="2400" dirty="0"/>
          </a:p>
        </p:txBody>
      </p:sp>
      <p:pic>
        <p:nvPicPr>
          <p:cNvPr id="5" name="NoBugs logo" descr="NoBugs logo: a cat-eared Wi-Fi sig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777240"/>
            <a:ext cx="3108960" cy="29567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154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Find the signal in the noise. Turn 10,000 log lines into actionable incidents in seconds.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Automated log intelligence  •  Built for high-pressure on-call SREs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About NoBugs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When production breaks at 3 AM, nobody wants to grep through thousands of lines. NoBugs ingests raw logs, clusters them into incident patterns, ranks them by impact, and shows how a failure spread across services.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No regexes. No manual triage.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Drop in .log, .txt or .json files, or paste a dump from Datadog, Grafana or a terminal.</a:t>
            </a:r>
            <a:endParaRPr lang="en-US" sz="1300" dirty="0"/>
          </a:p>
        </p:txBody>
      </p:sp>
      <p:sp>
        <p:nvSpPr>
          <p:cNvPr id="5" name="Stat card 1"/>
          <p:cNvSpPr/>
          <p:nvPr/>
        </p:nvSpPr>
        <p:spPr>
          <a:xfrm>
            <a:off x="4663440" y="105156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234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Log lines ingested</a:t>
            </a:r>
            <a:endParaRPr lang="en-US" sz="1100" dirty="0"/>
          </a:p>
        </p:txBody>
      </p:sp>
      <p:sp>
        <p:nvSpPr>
          <p:cNvPr id="8" name="Stat card 2"/>
          <p:cNvSpPr/>
          <p:nvPr/>
        </p:nvSpPr>
        <p:spPr>
          <a:xfrm>
            <a:off x="6720840" y="105156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1234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Incident patterns (Drain3)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4663440" y="26060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788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Services in topology</a:t>
            </a:r>
            <a:endParaRPr lang="en-US" sz="1100" dirty="0"/>
          </a:p>
        </p:txBody>
      </p:sp>
      <p:sp>
        <p:nvSpPr>
          <p:cNvPr id="14" name="Stat card 4"/>
          <p:cNvSpPr/>
          <p:nvPr/>
        </p:nvSpPr>
        <p:spPr>
          <a:xfrm>
            <a:off x="6720840" y="26060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27889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Secrets leaked (privacy shield)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206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Figures from the 10,000-line sample incident loaded in the demo.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Six intelligence views</a:t>
            </a:r>
            <a:endParaRPr lang="en-US" sz="2600" dirty="0"/>
          </a:p>
        </p:txBody>
      </p:sp>
      <p:sp>
        <p:nvSpPr>
          <p:cNvPr id="3" name="View card 1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Home / Import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Ingest or paste logs</a:t>
            </a:r>
            <a:endParaRPr lang="en-US" sz="1200" dirty="0"/>
          </a:p>
        </p:txBody>
      </p:sp>
      <p:sp>
        <p:nvSpPr>
          <p:cNvPr id="8" name="View card 2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2801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Incident Dashboard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Clustered template rankings</a:t>
            </a:r>
            <a:endParaRPr lang="en-US" sz="1200" dirty="0"/>
          </a:p>
        </p:txBody>
      </p:sp>
      <p:sp>
        <p:nvSpPr>
          <p:cNvPr id="13" name="View card 3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801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Graph Analysis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Causality and blast radius</a:t>
            </a:r>
            <a:endParaRPr lang="en-US" sz="1200" dirty="0"/>
          </a:p>
        </p:txBody>
      </p:sp>
      <p:sp>
        <p:nvSpPr>
          <p:cNvPr id="18" name="View card 4"/>
          <p:cNvSpPr/>
          <p:nvPr/>
        </p:nvSpPr>
        <p:spPr>
          <a:xfrm>
            <a:off x="45720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 Machine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Onset replay slider</a:t>
            </a:r>
            <a:endParaRPr lang="en-US" sz="1200" dirty="0"/>
          </a:p>
        </p:txBody>
      </p:sp>
      <p:sp>
        <p:nvSpPr>
          <p:cNvPr id="23" name="View card 5"/>
          <p:cNvSpPr/>
          <p:nvPr/>
        </p:nvSpPr>
        <p:spPr>
          <a:xfrm>
            <a:off x="324612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3017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Incident Ledger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Postmortems and fixes</a:t>
            </a:r>
            <a:endParaRPr lang="en-US" sz="1200" dirty="0"/>
          </a:p>
        </p:txBody>
      </p:sp>
      <p:sp>
        <p:nvSpPr>
          <p:cNvPr id="28" name="View card 6"/>
          <p:cNvSpPr/>
          <p:nvPr/>
        </p:nvSpPr>
        <p:spPr>
          <a:xfrm>
            <a:off x="6035040" y="2834640"/>
            <a:ext cx="26517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3017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Fix Verification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Compare before / after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3" name="Step card 1"/>
          <p:cNvSpPr/>
          <p:nvPr/>
        </p:nvSpPr>
        <p:spPr>
          <a:xfrm>
            <a:off x="457200" y="1371600"/>
            <a:ext cx="1965960" cy="26517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Ingest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Upload a file or paste raw logs; secrets and PII are scrubbed on the way in.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95728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›</a:t>
            </a:r>
            <a:endParaRPr lang="en-US" sz="2200" dirty="0"/>
          </a:p>
        </p:txBody>
      </p:sp>
      <p:sp>
        <p:nvSpPr>
          <p:cNvPr id="8" name="Step card 2"/>
          <p:cNvSpPr/>
          <p:nvPr/>
        </p:nvSpPr>
        <p:spPr>
          <a:xfrm>
            <a:off x="2560320" y="1371600"/>
            <a:ext cx="1965960" cy="26517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Cluster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6060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Drain3 miner groups lines into templates, with variable parts masked.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›</a:t>
            </a:r>
            <a:endParaRPr lang="en-US" sz="2200" dirty="0"/>
          </a:p>
        </p:txBody>
      </p:sp>
      <p:sp>
        <p:nvSpPr>
          <p:cNvPr id="13" name="Step card 3"/>
          <p:cNvSpPr/>
          <p:nvPr/>
        </p:nvSpPr>
        <p:spPr>
          <a:xfrm>
            <a:off x="4663440" y="1371600"/>
            <a:ext cx="1965960" cy="26517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Rank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6060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Score = severity × frequency × blast radius × rate of change.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›</a:t>
            </a:r>
            <a:endParaRPr lang="en-US" sz="2200" dirty="0"/>
          </a:p>
        </p:txBody>
      </p:sp>
      <p:sp>
        <p:nvSpPr>
          <p:cNvPr id="18" name="Step card 4"/>
          <p:cNvSpPr/>
          <p:nvPr/>
        </p:nvSpPr>
        <p:spPr>
          <a:xfrm>
            <a:off x="6766560" y="1371600"/>
            <a:ext cx="1965960" cy="265176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1945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Trace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606040"/>
            <a:ext cx="1600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Map the cascade across services and replay it on the time machine.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Why NoBugs is unique</a:t>
            </a:r>
            <a:endParaRPr lang="en-US" sz="2600" dirty="0"/>
          </a:p>
        </p:txBody>
      </p:sp>
      <p:sp>
        <p:nvSpPr>
          <p:cNvPr id="3" name="Unique card 1"/>
          <p:cNvSpPr/>
          <p:nvPr/>
        </p:nvSpPr>
        <p:spPr>
          <a:xfrm>
            <a:off x="457200" y="1051560"/>
            <a:ext cx="1965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657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Zero regex setup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Drain3 template mining clusters 10,000+ log lines into clean patterns in under 0.5 seconds.</a:t>
            </a:r>
            <a:endParaRPr lang="en-US" sz="1100" dirty="0"/>
          </a:p>
        </p:txBody>
      </p:sp>
      <p:sp>
        <p:nvSpPr>
          <p:cNvPr id="7" name="Unique card 2"/>
          <p:cNvSpPr/>
          <p:nvPr/>
        </p:nvSpPr>
        <p:spPr>
          <a:xfrm>
            <a:off x="2542032" y="1051560"/>
            <a:ext cx="1965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24912" y="1234440"/>
            <a:ext cx="3657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24912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Built-in privacy shield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1737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Redacts API keys, JWTs, passwords, emails and IPs before any data touches the AI.</a:t>
            </a:r>
            <a:endParaRPr lang="en-US" sz="1100" dirty="0"/>
          </a:p>
        </p:txBody>
      </p:sp>
      <p:sp>
        <p:nvSpPr>
          <p:cNvPr id="11" name="Unique card 3"/>
          <p:cNvSpPr/>
          <p:nvPr/>
        </p:nvSpPr>
        <p:spPr>
          <a:xfrm>
            <a:off x="4626864" y="1051560"/>
            <a:ext cx="1965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9744" y="1234440"/>
            <a:ext cx="3657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9744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Causality &amp; blast radius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09744" y="1737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Maps how failures cascade (db → payment → checkout) and separates confirmed outages from predicted at-risk systems.</a:t>
            </a:r>
            <a:endParaRPr lang="en-US" sz="1100" dirty="0"/>
          </a:p>
        </p:txBody>
      </p:sp>
      <p:sp>
        <p:nvSpPr>
          <p:cNvPr id="15" name="Unique card 4"/>
          <p:cNvSpPr/>
          <p:nvPr/>
        </p:nvSpPr>
        <p:spPr>
          <a:xfrm>
            <a:off x="6711696" y="1051560"/>
            <a:ext cx="1965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94576" y="1234440"/>
            <a:ext cx="3657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94576" y="13716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Adversarial AI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94576" y="17373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Gives 3 competing hypotheses with contrary evidence, plus a one-click “Challenge This Theory” button.</a:t>
            </a:r>
            <a:endParaRPr lang="en-US" sz="1100" dirty="0"/>
          </a:p>
        </p:txBody>
      </p:sp>
      <p:sp>
        <p:nvSpPr>
          <p:cNvPr id="19" name="Unique card 5"/>
          <p:cNvSpPr/>
          <p:nvPr/>
        </p:nvSpPr>
        <p:spPr>
          <a:xfrm>
            <a:off x="45720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108960"/>
            <a:ext cx="3657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Incident Time Machine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Scrub an interactive timeline and replay the exact sequence of events as services broke down.</a:t>
            </a:r>
            <a:endParaRPr lang="en-US" sz="1100" dirty="0"/>
          </a:p>
        </p:txBody>
      </p:sp>
      <p:sp>
        <p:nvSpPr>
          <p:cNvPr id="23" name="Unique card 6"/>
          <p:cNvSpPr/>
          <p:nvPr/>
        </p:nvSpPr>
        <p:spPr>
          <a:xfrm>
            <a:off x="338328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108960"/>
            <a:ext cx="3657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56616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Institutional memory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Matches new incident fingerprints against past postmortems to suggest fixes that worked before.</a:t>
            </a:r>
            <a:endParaRPr lang="en-US" sz="1100" dirty="0"/>
          </a:p>
        </p:txBody>
      </p:sp>
      <p:sp>
        <p:nvSpPr>
          <p:cNvPr id="27" name="Unique card 7"/>
          <p:cNvSpPr/>
          <p:nvPr/>
        </p:nvSpPr>
        <p:spPr>
          <a:xfrm>
            <a:off x="6309360" y="292608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92240" y="3108960"/>
            <a:ext cx="36576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9224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Fix verification engine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36118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Compares logs before and after a patch to verify error reductions and issue a resolution verdict.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Sign in and ingest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29768" y="1069848"/>
            <a:ext cx="3986784" cy="1968603"/>
          </a:xfrm>
          <a:prstGeom prst="rect">
            <a:avLst/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pic>
        <p:nvPicPr>
          <p:cNvPr id="4" name="Login screen screenshot" descr="Login scree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31920" cy="19137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27448" y="1069848"/>
            <a:ext cx="3986784" cy="1980890"/>
          </a:xfrm>
          <a:prstGeom prst="rect">
            <a:avLst/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pic>
        <p:nvPicPr>
          <p:cNvPr id="6" name="Log ingestion screenshot" descr="Log ingestion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192602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200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Login.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Work email sign-in, plus a one-click demo on-call account.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754880" y="32004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Ingestion.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Drag and drop a file or paste a dump; load the 10,000-line sample story in one click.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Incident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29768" y="1069848"/>
            <a:ext cx="5358384" cy="2644473"/>
          </a:xfrm>
          <a:prstGeom prst="rect">
            <a:avLst/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pic>
        <p:nvPicPr>
          <p:cNvPr id="4" name="Incident dashboard screenshot" descr="Incident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258960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97280"/>
            <a:ext cx="4572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0936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Ranked patterns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371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Sorted by composite impact score across severity, frequency, blast radius and rate of change.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2103120"/>
            <a:ext cx="4572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Severity mix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 critical, 1 high and 20 mild patterns among the 39 found.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3108960"/>
            <a:ext cx="4572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936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Top finding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Database connection pool exhaustion: 1,150 logs, score 79.5, accelerating.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Graph Analysis: cascade and blast radius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29768" y="1069848"/>
            <a:ext cx="4992624" cy="2843927"/>
          </a:xfrm>
          <a:prstGeom prst="rect">
            <a:avLst/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pic>
        <p:nvPicPr>
          <p:cNvPr id="4" name="Cascade analysis screenshot" descr="Cascade analysis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78906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1097280"/>
            <a:ext cx="4572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Cascade velocity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3716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Stacked error rates show onset order from 03:00 to 03:10.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60720" y="2103120"/>
            <a:ext cx="4572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4360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Blast radius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2377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Error volume by service, plus predicted exposure for inventory and notifications.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0" y="3108960"/>
            <a:ext cx="4572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Hop-by-hop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0" y="3383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db → payment → checkout → api-gateway, each with a confidence rating and onset lag.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Incident Time Machine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29768" y="1069848"/>
            <a:ext cx="5358384" cy="2864072"/>
          </a:xfrm>
          <a:prstGeom prst="rect">
            <a:avLst/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pic>
        <p:nvPicPr>
          <p:cNvPr id="4" name="Time machine screenshot" descr="Time machin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303520" cy="2809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097280"/>
            <a:ext cx="4572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09360" y="1097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Replay the failure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3716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Scrub or play from baseline (03:00) to the end (03:10).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26480" y="2103120"/>
            <a:ext cx="4572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3093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Live service health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Per-service status at any moment, such as DB critical and payment degraded at 03:04.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3108960"/>
            <a:ext cx="4572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936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Before vs after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Telemetry contrast around onset, e.g. ingress 5xx rate up 290× over baseline.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demo incident, minute by minute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76809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" y="203911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03:02</a:t>
            </a:r>
            <a:endParaRPr lang="en-US" sz="1800" dirty="0"/>
          </a:p>
        </p:txBody>
      </p:sp>
      <p:sp>
        <p:nvSpPr>
          <p:cNvPr id="6" name="Timeline card 1"/>
          <p:cNvSpPr/>
          <p:nvPr/>
        </p:nvSpPr>
        <p:spPr>
          <a:xfrm>
            <a:off x="384048" y="2514600"/>
            <a:ext cx="1426464" cy="146304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2606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Cache miss burst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310896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Red herring that precedes the spike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2039112"/>
            <a:ext cx="219456" cy="219456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2024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03:03</a:t>
            </a:r>
            <a:endParaRPr lang="en-US" sz="1800" dirty="0"/>
          </a:p>
        </p:txBody>
      </p:sp>
      <p:sp>
        <p:nvSpPr>
          <p:cNvPr id="11" name="Timeline card 2"/>
          <p:cNvSpPr/>
          <p:nvPr/>
        </p:nvSpPr>
        <p:spPr>
          <a:xfrm>
            <a:off x="1938528" y="2514600"/>
            <a:ext cx="1426464" cy="146304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29968" y="2606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DB pool exhausted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29968" y="310896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Root cause: acquisition timeouts over 5000ms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96512" y="203911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03:04</a:t>
            </a:r>
            <a:endParaRPr lang="en-US" sz="1800" dirty="0"/>
          </a:p>
        </p:txBody>
      </p:sp>
      <p:sp>
        <p:nvSpPr>
          <p:cNvPr id="16" name="Timeline card 3"/>
          <p:cNvSpPr/>
          <p:nvPr/>
        </p:nvSpPr>
        <p:spPr>
          <a:xfrm>
            <a:off x="3493008" y="2514600"/>
            <a:ext cx="1426464" cy="146304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84448" y="2606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Payment breaker opens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310896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80% failure threshold reached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50992" y="203911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03:05</a:t>
            </a:r>
            <a:endParaRPr lang="en-US" sz="1800" dirty="0"/>
          </a:p>
        </p:txBody>
      </p:sp>
      <p:sp>
        <p:nvSpPr>
          <p:cNvPr id="21" name="Timeline card 4"/>
          <p:cNvSpPr/>
          <p:nvPr/>
        </p:nvSpPr>
        <p:spPr>
          <a:xfrm>
            <a:off x="5047488" y="2514600"/>
            <a:ext cx="1426464" cy="146304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38928" y="2606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Checkout 503s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138928" y="310896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Orders start dropping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05472" y="203911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0" y="1554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03:06</a:t>
            </a:r>
            <a:endParaRPr lang="en-US" sz="1800" dirty="0"/>
          </a:p>
        </p:txBody>
      </p:sp>
      <p:sp>
        <p:nvSpPr>
          <p:cNvPr id="26" name="Timeline card 5"/>
          <p:cNvSpPr/>
          <p:nvPr/>
        </p:nvSpPr>
        <p:spPr>
          <a:xfrm>
            <a:off x="6601968" y="2514600"/>
            <a:ext cx="1426464" cy="146304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93408" y="260604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Gateway collapse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93408" y="310896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5xx rate 5.8% vs 1.0% limit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Under the hood</a:t>
            </a:r>
            <a:endParaRPr lang="en-US" sz="2600" dirty="0"/>
          </a:p>
        </p:txBody>
      </p:sp>
      <p:sp>
        <p:nvSpPr>
          <p:cNvPr id="3" name="Stack card 1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Frontend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React with Vite: fast HMR dev server and a minimal build setup.</a:t>
            </a:r>
            <a:endParaRPr lang="en-US" sz="1300" dirty="0"/>
          </a:p>
        </p:txBody>
      </p:sp>
      <p:sp>
        <p:nvSpPr>
          <p:cNvPr id="7" name="Stack card 2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32588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Tooling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Oxlint rules; the React Compiler is optional and off by default.</a:t>
            </a:r>
            <a:endParaRPr lang="en-US" sz="1300" dirty="0"/>
          </a:p>
        </p:txBody>
      </p:sp>
      <p:sp>
        <p:nvSpPr>
          <p:cNvPr id="11" name="Stack card 3"/>
          <p:cNvSpPr/>
          <p:nvPr/>
        </p:nvSpPr>
        <p:spPr>
          <a:xfrm>
            <a:off x="457200" y="265176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8036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Log mining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Drain3 template miner turns raw lines into clustered patterns.</a:t>
            </a:r>
            <a:endParaRPr lang="en-US" sz="1300" dirty="0"/>
          </a:p>
        </p:txBody>
      </p:sp>
      <p:sp>
        <p:nvSpPr>
          <p:cNvPr id="15" name="Stack card 4"/>
          <p:cNvSpPr/>
          <p:nvPr/>
        </p:nvSpPr>
        <p:spPr>
          <a:xfrm>
            <a:off x="4663440" y="265176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31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88036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Storage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SQLite-backed fingerprint database for known incident patterns.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731520" y="1325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945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2"/>
                </a:solidFill>
              </a:rPr>
              <a:t>Sharp ears for 3 AM outages.</a:t>
            </a:r>
            <a:endParaRPr lang="en-US" sz="2400" dirty="0"/>
          </a:p>
        </p:txBody>
      </p:sp>
      <p:pic>
        <p:nvPicPr>
          <p:cNvPr id="4" name="NoBugs logo" descr="NoBug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777240"/>
            <a:ext cx="3108960" cy="2956704"/>
          </a:xfrm>
          <a:prstGeom prst="rect">
            <a:avLst/>
          </a:prstGeom>
        </p:spPr>
      </p:pic>
      <p:sp>
        <p:nvSpPr>
          <p:cNvPr id="5" name="Text 3"/>
          <p:cNvSpPr/>
          <p:nvPr/>
        </p:nvSpPr>
        <p:spPr>
          <a:xfrm>
            <a:off x="731520" y="31546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From 10,000 log lines to a clear root cause.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Bugs Dark">
  <a:themeElements>
    <a:clrScheme name="NoBugs Dark">
      <a:dk1>
        <a:srgbClr val="F3F4F6"/>
      </a:dk1>
      <a:lt1>
        <a:srgbClr val="0B0E14"/>
      </a:lt1>
      <a:dk2>
        <a:srgbClr val="9CA3AF"/>
      </a:dk2>
      <a:lt2>
        <a:srgbClr val="151A23"/>
      </a:lt2>
      <a:accent1>
        <a:srgbClr val="E8805F"/>
      </a:accent1>
      <a:accent2>
        <a:srgbClr val="F4A261"/>
      </a:accent2>
      <a:accent3>
        <a:srgbClr val="EF4444"/>
      </a:accent3>
      <a:accent4>
        <a:srgbClr val="22C55E"/>
      </a:accent4>
      <a:accent5>
        <a:srgbClr val="8B5CF6"/>
      </a:accent5>
      <a:accent6>
        <a:srgbClr val="F59E0B"/>
      </a:accent6>
      <a:hlink>
        <a:srgbClr val="F4A261"/>
      </a:hlink>
      <a:folHlink>
        <a:srgbClr val="9CA3AF"/>
      </a:folHlink>
    </a:clrScheme>
    <a:fontScheme name="NoBugs Dark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NoBugs – Find the signal in the noise</dc:title>
  <dc:subject>PptxGenJS Presentation</dc:subject>
  <dc:creator>PptxGenJS</dc:creator>
  <cp:lastModifiedBy>PptxGenJS</cp:lastModifiedBy>
  <cp:revision>1</cp:revision>
  <dcterms:created xsi:type="dcterms:W3CDTF">2026-10-09T21:05:29Z</dcterms:created>
  <dcterms:modified xsi:type="dcterms:W3CDTF">2026-10-09T21:05:29Z</dcterms:modified>
</cp:coreProperties>
</file>